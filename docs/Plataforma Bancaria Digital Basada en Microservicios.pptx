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d76c9da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d76c9da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76c9da7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76c9da7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d76c9da7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d76c9da7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d76c9da7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d76c9da7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d76c9da7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d76c9da7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d76c9da7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d76c9da7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500"/>
              <a:t>Plataforma Bancaria Digital Basada en Microservicios</a:t>
            </a:r>
            <a:endParaRPr sz="6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311700" y="297950"/>
            <a:ext cx="8520600" cy="44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s-419" sz="2200">
                <a:solidFill>
                  <a:schemeClr val="dk1"/>
                </a:solidFill>
              </a:rPr>
              <a:t>Plataforma Bancaria Digital Basada en Microservicios</a:t>
            </a:r>
            <a:endParaRPr b="1" sz="2200">
              <a:solidFill>
                <a:schemeClr val="dk1"/>
              </a:solidFill>
            </a:endParaRPr>
          </a:p>
          <a:p>
            <a:pPr indent="-31591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Administración de </a:t>
            </a:r>
            <a:r>
              <a:rPr b="1" lang="es-419" sz="2200">
                <a:solidFill>
                  <a:schemeClr val="dk1"/>
                </a:solidFill>
              </a:rPr>
              <a:t>clientes personales y empresariales</a:t>
            </a:r>
            <a:r>
              <a:rPr lang="es-419" sz="2200">
                <a:solidFill>
                  <a:schemeClr val="dk1"/>
                </a:solidFill>
              </a:rPr>
              <a:t>, incluyendo perfiles especiales </a:t>
            </a:r>
            <a:r>
              <a:rPr b="1" lang="es-419" sz="2200">
                <a:solidFill>
                  <a:schemeClr val="dk1"/>
                </a:solidFill>
              </a:rPr>
              <a:t>VIP</a:t>
            </a:r>
            <a:r>
              <a:rPr lang="es-419" sz="2200">
                <a:solidFill>
                  <a:schemeClr val="dk1"/>
                </a:solidFill>
              </a:rPr>
              <a:t> y </a:t>
            </a:r>
            <a:r>
              <a:rPr b="1" lang="es-419" sz="2200">
                <a:solidFill>
                  <a:schemeClr val="dk1"/>
                </a:solidFill>
              </a:rPr>
              <a:t>PYME</a:t>
            </a:r>
            <a:r>
              <a:rPr lang="es-419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-31591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Gestión de productos bancarios:</a:t>
            </a:r>
            <a:endParaRPr sz="2200">
              <a:solidFill>
                <a:schemeClr val="dk1"/>
              </a:solidFill>
            </a:endParaRPr>
          </a:p>
          <a:p>
            <a:pPr indent="-3159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 sz="2200">
                <a:solidFill>
                  <a:schemeClr val="dk1"/>
                </a:solidFill>
              </a:rPr>
              <a:t>Cuentas de ahorro, corriente y plazo fijo.</a:t>
            </a:r>
            <a:endParaRPr sz="2200">
              <a:solidFill>
                <a:schemeClr val="dk1"/>
              </a:solidFill>
            </a:endParaRPr>
          </a:p>
          <a:p>
            <a:pPr indent="-3159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 sz="2200">
                <a:solidFill>
                  <a:schemeClr val="dk1"/>
                </a:solidFill>
              </a:rPr>
              <a:t>Créditos personales, empresariales y tarjetas de crédito.</a:t>
            </a:r>
            <a:endParaRPr sz="2200">
              <a:solidFill>
                <a:schemeClr val="dk1"/>
              </a:solidFill>
            </a:endParaRPr>
          </a:p>
          <a:p>
            <a:pPr indent="-31591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Operaciones financieras:</a:t>
            </a:r>
            <a:endParaRPr sz="2200">
              <a:solidFill>
                <a:schemeClr val="dk1"/>
              </a:solidFill>
            </a:endParaRPr>
          </a:p>
          <a:p>
            <a:pPr indent="-3159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 sz="2200">
                <a:solidFill>
                  <a:schemeClr val="dk1"/>
                </a:solidFill>
              </a:rPr>
              <a:t>Depósitos, retiros, transferencias, pagos y consultas de movimientos.</a:t>
            </a:r>
            <a:endParaRPr sz="2200">
              <a:solidFill>
                <a:schemeClr val="dk1"/>
              </a:solidFill>
            </a:endParaRPr>
          </a:p>
          <a:p>
            <a:pPr indent="-31591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Implementación de </a:t>
            </a:r>
            <a:r>
              <a:rPr b="1" lang="es-419" sz="2200">
                <a:solidFill>
                  <a:schemeClr val="dk1"/>
                </a:solidFill>
              </a:rPr>
              <a:t>tarjetas de débito</a:t>
            </a:r>
            <a:r>
              <a:rPr lang="es-419" sz="2200">
                <a:solidFill>
                  <a:schemeClr val="dk1"/>
                </a:solidFill>
              </a:rPr>
              <a:t> vinculadas a cuentas bancarias.</a:t>
            </a:r>
            <a:endParaRPr sz="2200">
              <a:solidFill>
                <a:schemeClr val="dk1"/>
              </a:solidFill>
            </a:endParaRPr>
          </a:p>
          <a:p>
            <a:pPr indent="-31591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Desarrollo de </a:t>
            </a:r>
            <a:r>
              <a:rPr b="1" lang="es-419" sz="2200">
                <a:solidFill>
                  <a:schemeClr val="dk1"/>
                </a:solidFill>
              </a:rPr>
              <a:t>Yanki</a:t>
            </a:r>
            <a:r>
              <a:rPr lang="es-419" sz="2200">
                <a:solidFill>
                  <a:schemeClr val="dk1"/>
                </a:solidFill>
              </a:rPr>
              <a:t>, un monedero móvil que permite enviar dinero mediante número celular, con integración a cuentas bancarias.</a:t>
            </a:r>
            <a:endParaRPr sz="2200">
              <a:solidFill>
                <a:schemeClr val="dk1"/>
              </a:solidFill>
            </a:endParaRPr>
          </a:p>
          <a:p>
            <a:pPr indent="-31591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Aplicación de reglas de negocio:</a:t>
            </a:r>
            <a:endParaRPr sz="2200">
              <a:solidFill>
                <a:schemeClr val="dk1"/>
              </a:solidFill>
            </a:endParaRPr>
          </a:p>
          <a:p>
            <a:pPr indent="-3159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 sz="2200">
                <a:solidFill>
                  <a:schemeClr val="dk1"/>
                </a:solidFill>
              </a:rPr>
              <a:t>Restricciones según tipo de cliente.</a:t>
            </a:r>
            <a:endParaRPr sz="2200">
              <a:solidFill>
                <a:schemeClr val="dk1"/>
              </a:solidFill>
            </a:endParaRPr>
          </a:p>
          <a:p>
            <a:pPr indent="-3159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 sz="2200">
                <a:solidFill>
                  <a:schemeClr val="dk1"/>
                </a:solidFill>
              </a:rPr>
              <a:t>Validación de deudas vencidas para adquisición de nuevos productos.</a:t>
            </a:r>
            <a:endParaRPr sz="2200">
              <a:solidFill>
                <a:schemeClr val="dk1"/>
              </a:solidFill>
            </a:endParaRPr>
          </a:p>
          <a:p>
            <a:pPr indent="-31591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Arquitectura basada en </a:t>
            </a:r>
            <a:r>
              <a:rPr b="1" lang="es-419" sz="2200">
                <a:solidFill>
                  <a:schemeClr val="dk1"/>
                </a:solidFill>
              </a:rPr>
              <a:t>microservicios independientes</a:t>
            </a:r>
            <a:r>
              <a:rPr lang="es-419" sz="2200">
                <a:solidFill>
                  <a:schemeClr val="dk1"/>
                </a:solidFill>
              </a:rPr>
              <a:t>:</a:t>
            </a:r>
            <a:endParaRPr sz="2200">
              <a:solidFill>
                <a:schemeClr val="dk1"/>
              </a:solidFill>
            </a:endParaRPr>
          </a:p>
          <a:p>
            <a:pPr indent="-3159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s-419" sz="2200">
                <a:solidFill>
                  <a:schemeClr val="dk1"/>
                </a:solidFill>
              </a:rPr>
              <a:t>Clientes, cuentas, créditos, monedero, seguridad y gateway.</a:t>
            </a:r>
            <a:endParaRPr sz="2200">
              <a:solidFill>
                <a:schemeClr val="dk1"/>
              </a:solidFill>
            </a:endParaRPr>
          </a:p>
          <a:p>
            <a:pPr indent="-31591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Validación funcional mediante </a:t>
            </a:r>
            <a:r>
              <a:rPr b="1" lang="es-419" sz="2200">
                <a:solidFill>
                  <a:schemeClr val="dk1"/>
                </a:solidFill>
              </a:rPr>
              <a:t>Postman</a:t>
            </a:r>
            <a:r>
              <a:rPr lang="es-419" sz="2200">
                <a:solidFill>
                  <a:schemeClr val="dk1"/>
                </a:solidFill>
              </a:rPr>
              <a:t>, cubriendo flujos completos de negocio.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s-419" sz="2200">
                <a:solidFill>
                  <a:schemeClr val="dk1"/>
                </a:solidFill>
              </a:rPr>
              <a:t>Objetivo:</a:t>
            </a:r>
            <a:r>
              <a:rPr lang="es-419" sz="2200">
                <a:solidFill>
                  <a:schemeClr val="dk1"/>
                </a:solidFill>
              </a:rPr>
              <a:t> Simular el backend de un banco digital moderno, escalable y orientado a servicios.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 title="504aed6c-d9b4-43e8-b168-96aae59810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6450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311700" y="428450"/>
            <a:ext cx="8520600" cy="41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500">
                <a:solidFill>
                  <a:schemeClr val="dk1"/>
                </a:solidFill>
              </a:rPr>
              <a:t>Componentes de la Arquitectura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419" sz="1300">
                <a:solidFill>
                  <a:schemeClr val="dk1"/>
                </a:solidFill>
              </a:rPr>
              <a:t>API Gateway:</a:t>
            </a:r>
            <a:r>
              <a:rPr lang="es-419" sz="1300">
                <a:solidFill>
                  <a:schemeClr val="dk1"/>
                </a:solidFill>
              </a:rPr>
              <a:t> Punto único de entrada, enrutamiento de peticiones y generación de JWT.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419" sz="1300">
                <a:solidFill>
                  <a:schemeClr val="dk1"/>
                </a:solidFill>
              </a:rPr>
              <a:t>Discovery Server (Eureka):</a:t>
            </a:r>
            <a:r>
              <a:rPr lang="es-419" sz="1300">
                <a:solidFill>
                  <a:schemeClr val="dk1"/>
                </a:solidFill>
              </a:rPr>
              <a:t> Registro y descubrimiento de microservicios disponibles.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419" sz="1300">
                <a:solidFill>
                  <a:schemeClr val="dk1"/>
                </a:solidFill>
              </a:rPr>
              <a:t>Config Server:</a:t>
            </a:r>
            <a:r>
              <a:rPr lang="es-419" sz="1300">
                <a:solidFill>
                  <a:schemeClr val="dk1"/>
                </a:solidFill>
              </a:rPr>
              <a:t> Gestión centralizada de configuraciones y propiedades.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419" sz="1300">
                <a:solidFill>
                  <a:schemeClr val="dk1"/>
                </a:solidFill>
              </a:rPr>
              <a:t>Customer Service:</a:t>
            </a:r>
            <a:r>
              <a:rPr lang="es-419" sz="1300">
                <a:solidFill>
                  <a:schemeClr val="dk1"/>
                </a:solidFill>
              </a:rPr>
              <a:t> Administración de clientes personales, empresariales, VIP y PYME.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419" sz="1300">
                <a:solidFill>
                  <a:schemeClr val="dk1"/>
                </a:solidFill>
              </a:rPr>
              <a:t>Account Service:</a:t>
            </a:r>
            <a:r>
              <a:rPr lang="es-419" sz="1300">
                <a:solidFill>
                  <a:schemeClr val="dk1"/>
                </a:solidFill>
              </a:rPr>
              <a:t> Gestión de cuentas bancarias, tarjetas de débito, transferencias y reglas de negocio.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419" sz="1300">
                <a:solidFill>
                  <a:schemeClr val="dk1"/>
                </a:solidFill>
              </a:rPr>
              <a:t>Credit Service:</a:t>
            </a:r>
            <a:r>
              <a:rPr lang="es-419" sz="1300">
                <a:solidFill>
                  <a:schemeClr val="dk1"/>
                </a:solidFill>
              </a:rPr>
              <a:t> Administración de préstamos, tarjetas de crédito, pagos y validación de deudas.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419" sz="1300">
                <a:solidFill>
                  <a:schemeClr val="dk1"/>
                </a:solidFill>
              </a:rPr>
              <a:t>Wallet Service (Yanki):</a:t>
            </a:r>
            <a:r>
              <a:rPr lang="es-419" sz="1300">
                <a:solidFill>
                  <a:schemeClr val="dk1"/>
                </a:solidFill>
              </a:rPr>
              <a:t> Monedero móvil para pagos entre usuarios mediante número celular.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419" sz="1300">
                <a:solidFill>
                  <a:schemeClr val="dk1"/>
                </a:solidFill>
              </a:rPr>
              <a:t>MongoDB:</a:t>
            </a:r>
            <a:r>
              <a:rPr lang="es-419" sz="1300">
                <a:solidFill>
                  <a:schemeClr val="dk1"/>
                </a:solidFill>
              </a:rPr>
              <a:t> Persistencia de datos bajo el patrón </a:t>
            </a:r>
            <a:r>
              <a:rPr i="1" lang="es-419" sz="1300">
                <a:solidFill>
                  <a:schemeClr val="dk1"/>
                </a:solidFill>
              </a:rPr>
              <a:t>Database per Service</a:t>
            </a:r>
            <a:r>
              <a:rPr lang="es-419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419" sz="1300">
                <a:solidFill>
                  <a:schemeClr val="dk1"/>
                </a:solidFill>
              </a:rPr>
              <a:t>Redis:</a:t>
            </a:r>
            <a:r>
              <a:rPr lang="es-419" sz="1300">
                <a:solidFill>
                  <a:schemeClr val="dk1"/>
                </a:solidFill>
              </a:rPr>
              <a:t> Caché para consultas frecuentes y datos compartidos de acceso rápido.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419" sz="1300">
                <a:solidFill>
                  <a:schemeClr val="dk1"/>
                </a:solidFill>
              </a:rPr>
              <a:t>Kafka:</a:t>
            </a:r>
            <a:r>
              <a:rPr lang="es-419" sz="1300">
                <a:solidFill>
                  <a:schemeClr val="dk1"/>
                </a:solidFill>
              </a:rPr>
              <a:t> Comunicación asíncrona basada en eventos entre microservicios.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419" sz="1300">
                <a:solidFill>
                  <a:schemeClr val="dk1"/>
                </a:solidFill>
              </a:rPr>
              <a:t>RxJava:</a:t>
            </a:r>
            <a:r>
              <a:rPr lang="es-419" sz="1300">
                <a:solidFill>
                  <a:schemeClr val="dk1"/>
                </a:solidFill>
              </a:rPr>
              <a:t> Programación reactiva mediante Single, Flowable y Completable.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s-419" sz="1300">
                <a:solidFill>
                  <a:schemeClr val="dk1"/>
                </a:solidFill>
              </a:rPr>
              <a:t>JWT + Resilience4j:</a:t>
            </a:r>
            <a:r>
              <a:rPr lang="es-419" sz="1300">
                <a:solidFill>
                  <a:schemeClr val="dk1"/>
                </a:solidFill>
              </a:rPr>
              <a:t> Seguridad, autenticación y tolerancia a fallos.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300">
                <a:solidFill>
                  <a:schemeClr val="dk1"/>
                </a:solidFill>
              </a:rPr>
              <a:t>Objetivo:</a:t>
            </a:r>
            <a:r>
              <a:rPr lang="es-419" sz="1300">
                <a:solidFill>
                  <a:schemeClr val="dk1"/>
                </a:solidFill>
              </a:rPr>
              <a:t> Arquitectura distribuida, escalable, reactiva y orientada a eventos para una plataforma bancaria digital.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311700" y="341450"/>
            <a:ext cx="8520600" cy="42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200">
                <a:solidFill>
                  <a:schemeClr val="dk1"/>
                </a:solidFill>
              </a:rPr>
              <a:t>Arquitectura Técnica de la Plataforma Bancaria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419" sz="1200">
                <a:solidFill>
                  <a:schemeClr val="dk1"/>
                </a:solidFill>
              </a:rPr>
              <a:t>Arquitectura de Microservicios</a:t>
            </a:r>
            <a:r>
              <a:rPr lang="es-419" sz="1200">
                <a:solidFill>
                  <a:schemeClr val="dk1"/>
                </a:solidFill>
              </a:rPr>
              <a:t> con Java 17 y Spring Boot.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-419" sz="1200">
                <a:solidFill>
                  <a:schemeClr val="dk1"/>
                </a:solidFill>
              </a:rPr>
              <a:t>Servicios independientes: </a:t>
            </a:r>
            <a:r>
              <a:rPr b="1" lang="es-419" sz="1200">
                <a:solidFill>
                  <a:schemeClr val="dk1"/>
                </a:solidFill>
              </a:rPr>
              <a:t>Clientes, Cuentas, Créditos, Yanki, Config Server, Eureka y API Gateway</a:t>
            </a:r>
            <a:r>
              <a:rPr lang="es-419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419" sz="1200">
                <a:solidFill>
                  <a:schemeClr val="dk1"/>
                </a:solidFill>
              </a:rPr>
              <a:t>API Gateway</a:t>
            </a:r>
            <a:r>
              <a:rPr lang="es-419" sz="1200">
                <a:solidFill>
                  <a:schemeClr val="dk1"/>
                </a:solidFill>
              </a:rPr>
              <a:t> como punto único de acceso y enrutamiento de APIs.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419" sz="1200">
                <a:solidFill>
                  <a:schemeClr val="dk1"/>
                </a:solidFill>
              </a:rPr>
              <a:t>Spring Cloud Config Server</a:t>
            </a:r>
            <a:r>
              <a:rPr lang="es-419" sz="1200">
                <a:solidFill>
                  <a:schemeClr val="dk1"/>
                </a:solidFill>
              </a:rPr>
              <a:t> para configuración centralizada.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419" sz="1200">
                <a:solidFill>
                  <a:schemeClr val="dk1"/>
                </a:solidFill>
              </a:rPr>
              <a:t>MongoDB</a:t>
            </a:r>
            <a:r>
              <a:rPr lang="es-419" sz="1200">
                <a:solidFill>
                  <a:schemeClr val="dk1"/>
                </a:solidFill>
              </a:rPr>
              <a:t> bajo el patrón </a:t>
            </a:r>
            <a:r>
              <a:rPr b="1" lang="es-419" sz="1200">
                <a:solidFill>
                  <a:schemeClr val="dk1"/>
                </a:solidFill>
              </a:rPr>
              <a:t>Database per Service</a:t>
            </a:r>
            <a:r>
              <a:rPr lang="es-419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419" sz="1200">
                <a:solidFill>
                  <a:schemeClr val="dk1"/>
                </a:solidFill>
              </a:rPr>
              <a:t>Eureka Service Discovery</a:t>
            </a:r>
            <a:r>
              <a:rPr lang="es-419" sz="1200">
                <a:solidFill>
                  <a:schemeClr val="dk1"/>
                </a:solidFill>
              </a:rPr>
              <a:t> para registro y localización de servicios.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419" sz="1200">
                <a:solidFill>
                  <a:schemeClr val="dk1"/>
                </a:solidFill>
              </a:rPr>
              <a:t>Seguridad JWT</a:t>
            </a:r>
            <a:r>
              <a:rPr lang="es-419" sz="1200">
                <a:solidFill>
                  <a:schemeClr val="dk1"/>
                </a:solidFill>
              </a:rPr>
              <a:t> para autenticación y autorización sin sesiones.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419" sz="1200">
                <a:solidFill>
                  <a:schemeClr val="dk1"/>
                </a:solidFill>
              </a:rPr>
              <a:t>Kafka</a:t>
            </a:r>
            <a:r>
              <a:rPr lang="es-419" sz="1200">
                <a:solidFill>
                  <a:schemeClr val="dk1"/>
                </a:solidFill>
              </a:rPr>
              <a:t> para comunicación asíncrona basada en eventos.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419" sz="1200">
                <a:solidFill>
                  <a:schemeClr val="dk1"/>
                </a:solidFill>
              </a:rPr>
              <a:t>Redis</a:t>
            </a:r>
            <a:r>
              <a:rPr lang="es-419" sz="1200">
                <a:solidFill>
                  <a:schemeClr val="dk1"/>
                </a:solidFill>
              </a:rPr>
              <a:t> utilizado como caché para consultas de alta frecuencia.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419" sz="1200">
                <a:solidFill>
                  <a:schemeClr val="dk1"/>
                </a:solidFill>
              </a:rPr>
              <a:t>RxJava</a:t>
            </a:r>
            <a:r>
              <a:rPr lang="es-419" sz="1200">
                <a:solidFill>
                  <a:schemeClr val="dk1"/>
                </a:solidFill>
              </a:rPr>
              <a:t> para programación reactiva: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s-419" sz="1200">
                <a:solidFill>
                  <a:schemeClr val="dk1"/>
                </a:solidFill>
              </a:rPr>
              <a:t>Single</a:t>
            </a:r>
            <a:r>
              <a:rPr lang="es-419" sz="1200">
                <a:solidFill>
                  <a:schemeClr val="dk1"/>
                </a:solidFill>
              </a:rPr>
              <a:t>: operaciones con un resultado.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s-419" sz="1200">
                <a:solidFill>
                  <a:schemeClr val="dk1"/>
                </a:solidFill>
              </a:rPr>
              <a:t>Flowable</a:t>
            </a:r>
            <a:r>
              <a:rPr lang="es-419" sz="1200">
                <a:solidFill>
                  <a:schemeClr val="dk1"/>
                </a:solidFill>
              </a:rPr>
              <a:t>: procesamiento de colecciones y flujos de datos.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s-419" sz="1200">
                <a:solidFill>
                  <a:schemeClr val="dk1"/>
                </a:solidFill>
              </a:rPr>
              <a:t>Completable</a:t>
            </a:r>
            <a:r>
              <a:rPr lang="es-419" sz="1200">
                <a:solidFill>
                  <a:schemeClr val="dk1"/>
                </a:solidFill>
              </a:rPr>
              <a:t>: operaciones sin respuesta de negocio.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419" sz="1200">
                <a:solidFill>
                  <a:schemeClr val="dk1"/>
                </a:solidFill>
              </a:rPr>
              <a:t>Resilience4j</a:t>
            </a:r>
            <a:r>
              <a:rPr lang="es-419" sz="1200">
                <a:solidFill>
                  <a:schemeClr val="dk1"/>
                </a:solidFill>
              </a:rPr>
              <a:t> con Circuit Breaker y Timeout para tolerancia a fallos.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s-419" sz="1200">
                <a:solidFill>
                  <a:schemeClr val="dk1"/>
                </a:solidFill>
              </a:rPr>
              <a:t>OpenAPI</a:t>
            </a:r>
            <a:r>
              <a:rPr lang="es-419" sz="1200">
                <a:solidFill>
                  <a:schemeClr val="dk1"/>
                </a:solidFill>
              </a:rPr>
              <a:t> para generación automática de contratos y documentación.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-419" sz="1200">
                <a:solidFill>
                  <a:schemeClr val="dk1"/>
                </a:solidFill>
              </a:rPr>
              <a:t>Calidad de software mediante </a:t>
            </a:r>
            <a:r>
              <a:rPr b="1" lang="es-419" sz="1200">
                <a:solidFill>
                  <a:schemeClr val="dk1"/>
                </a:solidFill>
              </a:rPr>
              <a:t>JUnit, JaCoCo y Checkstyle</a:t>
            </a:r>
            <a:r>
              <a:rPr lang="es-419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 sz="1200">
                <a:solidFill>
                  <a:schemeClr val="dk1"/>
                </a:solidFill>
              </a:rPr>
              <a:t>Resultado:</a:t>
            </a:r>
            <a:r>
              <a:rPr lang="es-419" sz="1200">
                <a:solidFill>
                  <a:schemeClr val="dk1"/>
                </a:solidFill>
              </a:rPr>
              <a:t> Plataforma bancaria distribuida, escalable, segura, reactiva y orientada a eventos.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11700" y="482825"/>
            <a:ext cx="8520600" cy="40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s-419" sz="2200">
                <a:solidFill>
                  <a:schemeClr val="dk1"/>
                </a:solidFill>
              </a:rPr>
              <a:t>Reglas de Negocio Implementadas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s-419" sz="2200">
                <a:solidFill>
                  <a:schemeClr val="dk1"/>
                </a:solidFill>
              </a:rPr>
              <a:t>Customer Service</a:t>
            </a:r>
            <a:endParaRPr b="1" sz="2200">
              <a:solidFill>
                <a:schemeClr val="dk1"/>
              </a:solidFill>
            </a:endParaRPr>
          </a:p>
          <a:p>
            <a:pPr indent="-29495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Gestión de clientes </a:t>
            </a:r>
            <a:r>
              <a:rPr b="1" lang="es-419" sz="2200">
                <a:solidFill>
                  <a:schemeClr val="dk1"/>
                </a:solidFill>
              </a:rPr>
              <a:t>Personales</a:t>
            </a:r>
            <a:r>
              <a:rPr lang="es-419" sz="2200">
                <a:solidFill>
                  <a:schemeClr val="dk1"/>
                </a:solidFill>
              </a:rPr>
              <a:t> y </a:t>
            </a:r>
            <a:r>
              <a:rPr b="1" lang="es-419" sz="2200">
                <a:solidFill>
                  <a:schemeClr val="dk1"/>
                </a:solidFill>
              </a:rPr>
              <a:t>Empresariales</a:t>
            </a:r>
            <a:r>
              <a:rPr lang="es-419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-29495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Clasificación de perfiles: </a:t>
            </a:r>
            <a:r>
              <a:rPr b="1" lang="es-419" sz="2200">
                <a:solidFill>
                  <a:schemeClr val="dk1"/>
                </a:solidFill>
              </a:rPr>
              <a:t>Regular, VIP y PYME</a:t>
            </a:r>
            <a:r>
              <a:rPr lang="es-419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s-419" sz="2200">
                <a:solidFill>
                  <a:schemeClr val="dk1"/>
                </a:solidFill>
              </a:rPr>
              <a:t>Account Service</a:t>
            </a:r>
            <a:endParaRPr b="1" sz="2200">
              <a:solidFill>
                <a:schemeClr val="dk1"/>
              </a:solidFill>
            </a:endParaRPr>
          </a:p>
          <a:p>
            <a:pPr indent="-29495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-419" sz="2200">
                <a:solidFill>
                  <a:schemeClr val="dk1"/>
                </a:solidFill>
              </a:rPr>
              <a:t>VIP</a:t>
            </a:r>
            <a:r>
              <a:rPr lang="es-419" sz="2200">
                <a:solidFill>
                  <a:schemeClr val="dk1"/>
                </a:solidFill>
              </a:rPr>
              <a:t> solo puede abrir cuenta de ahorro si posee una tarjeta de crédito.</a:t>
            </a:r>
            <a:endParaRPr sz="2200">
              <a:solidFill>
                <a:schemeClr val="dk1"/>
              </a:solidFill>
            </a:endParaRPr>
          </a:p>
          <a:p>
            <a:pPr indent="-29495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s-419" sz="2200">
                <a:solidFill>
                  <a:schemeClr val="dk1"/>
                </a:solidFill>
              </a:rPr>
              <a:t>PYME</a:t>
            </a:r>
            <a:r>
              <a:rPr lang="es-419" sz="2200">
                <a:solidFill>
                  <a:schemeClr val="dk1"/>
                </a:solidFill>
              </a:rPr>
              <a:t> solo puede abrir cuenta corriente si posee una tarjeta de crédito.</a:t>
            </a:r>
            <a:endParaRPr sz="2200">
              <a:solidFill>
                <a:schemeClr val="dk1"/>
              </a:solidFill>
            </a:endParaRPr>
          </a:p>
          <a:p>
            <a:pPr indent="-29495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Los clientes empresariales solo pueden tener cuentas corrientes.</a:t>
            </a:r>
            <a:endParaRPr sz="2200">
              <a:solidFill>
                <a:schemeClr val="dk1"/>
              </a:solidFill>
            </a:endParaRPr>
          </a:p>
          <a:p>
            <a:pPr indent="-29495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Las cuentas de ahorro tienen límite de movimientos mensuales.</a:t>
            </a:r>
            <a:endParaRPr sz="2200">
              <a:solidFill>
                <a:schemeClr val="dk1"/>
              </a:solidFill>
            </a:endParaRPr>
          </a:p>
          <a:p>
            <a:pPr indent="-29495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Las cuentas a plazo fijo solo permiten movimientos en una fecha específica.</a:t>
            </a:r>
            <a:endParaRPr sz="2200">
              <a:solidFill>
                <a:schemeClr val="dk1"/>
              </a:solidFill>
            </a:endParaRPr>
          </a:p>
          <a:p>
            <a:pPr indent="-29495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Validación de saldo para retiros, transferencias y pagos con débito.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s-419" sz="2200">
                <a:solidFill>
                  <a:schemeClr val="dk1"/>
                </a:solidFill>
              </a:rPr>
              <a:t>Credit Service</a:t>
            </a:r>
            <a:endParaRPr b="1" sz="2200">
              <a:solidFill>
                <a:schemeClr val="dk1"/>
              </a:solidFill>
            </a:endParaRPr>
          </a:p>
          <a:p>
            <a:pPr indent="-29495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Un cliente personal solo puede tener un crédito personal.</a:t>
            </a:r>
            <a:endParaRPr sz="2200">
              <a:solidFill>
                <a:schemeClr val="dk1"/>
              </a:solidFill>
            </a:endParaRPr>
          </a:p>
          <a:p>
            <a:pPr indent="-29495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Un cliente empresarial puede tener múltiples créditos empresariales.</a:t>
            </a:r>
            <a:endParaRPr sz="2200">
              <a:solidFill>
                <a:schemeClr val="dk1"/>
              </a:solidFill>
            </a:endParaRPr>
          </a:p>
          <a:p>
            <a:pPr indent="-29495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Los clientes con deuda vencida no pueden adquirir nuevos productos financieros.</a:t>
            </a:r>
            <a:endParaRPr sz="2200">
              <a:solidFill>
                <a:schemeClr val="dk1"/>
              </a:solidFill>
            </a:endParaRPr>
          </a:p>
          <a:p>
            <a:pPr indent="-29495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-419" sz="2200">
                <a:solidFill>
                  <a:schemeClr val="dk1"/>
                </a:solidFill>
              </a:rPr>
              <a:t>Control de pagos, consumos y saldos de tarjetas de crédito.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311700" y="569800"/>
            <a:ext cx="8520600" cy="39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</a:rPr>
              <a:t>Wallet Service (Yanki)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 sz="1400">
                <a:solidFill>
                  <a:schemeClr val="dk1"/>
                </a:solidFill>
              </a:rPr>
              <a:t>Registro con documento, celular, IMEI y correo.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 sz="1400">
                <a:solidFill>
                  <a:schemeClr val="dk1"/>
                </a:solidFill>
              </a:rPr>
              <a:t>Transferencias entre monederos mediante número celular.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 sz="1400">
                <a:solidFill>
                  <a:schemeClr val="dk1"/>
                </a:solidFill>
              </a:rPr>
              <a:t>Asociación opcional de tarjeta de débito al monedero.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 sz="1400">
                <a:solidFill>
                  <a:schemeClr val="dk1"/>
                </a:solidFill>
              </a:rPr>
              <a:t>Los pagos realizados desde Yanki impactan directamente en la cuenta bancaria asociada.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</a:rPr>
              <a:t>Reglas Transversales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 sz="1400">
                <a:solidFill>
                  <a:schemeClr val="dk1"/>
                </a:solidFill>
              </a:rPr>
              <a:t>Validación de identidad mediante JWT.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 sz="1400">
                <a:solidFill>
                  <a:schemeClr val="dk1"/>
                </a:solidFill>
              </a:rPr>
              <a:t>Comunicación asíncrona mediante eventos Kafka.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 sz="1400">
                <a:solidFill>
                  <a:schemeClr val="dk1"/>
                </a:solidFill>
              </a:rPr>
              <a:t>Consistencia de información entre servicios mediante eventos y caché Redis.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400">
                <a:solidFill>
                  <a:schemeClr val="dk1"/>
                </a:solidFill>
              </a:rPr>
              <a:t>Objetivo:</a:t>
            </a:r>
            <a:r>
              <a:rPr lang="es-419" sz="1400">
                <a:solidFill>
                  <a:schemeClr val="dk1"/>
                </a:solidFill>
              </a:rPr>
              <a:t> Garantizar el cumplimiento de políticas bancarias, restricciones de productos y consistencia operativa en toda la plataforma.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